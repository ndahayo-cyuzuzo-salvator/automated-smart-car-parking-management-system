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Kumbh Sans"/>
      <p:regular r:id="rId22"/>
      <p:bold r:id="rId23"/>
    </p:embeddedFont>
    <p:embeddedFont>
      <p:font typeface="Albert Sans"/>
      <p:regular r:id="rId24"/>
      <p:bold r:id="rId25"/>
      <p:italic r:id="rId26"/>
      <p:boldItalic r:id="rId27"/>
    </p:embeddedFont>
    <p:embeddedFont>
      <p:font typeface="Kumbh Sans SemiBold"/>
      <p:regular r:id="rId28"/>
      <p:bold r:id="rId29"/>
    </p:embeddedFont>
    <p:embeddedFont>
      <p:font typeface="Kumbh Sans Medium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Kumbh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AlbertSans-regular.fntdata"/><Relationship Id="rId23" Type="http://schemas.openxmlformats.org/officeDocument/2006/relationships/font" Target="fonts/Kumbh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italic.fntdata"/><Relationship Id="rId25" Type="http://schemas.openxmlformats.org/officeDocument/2006/relationships/font" Target="fonts/AlbertSans-bold.fntdata"/><Relationship Id="rId28" Type="http://schemas.openxmlformats.org/officeDocument/2006/relationships/font" Target="fonts/KumbhSansSemiBold-regular.fntdata"/><Relationship Id="rId27" Type="http://schemas.openxmlformats.org/officeDocument/2006/relationships/font" Target="fonts/Alber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KumbhSans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umbhSansMedium-bold.fntdata"/><Relationship Id="rId30" Type="http://schemas.openxmlformats.org/officeDocument/2006/relationships/font" Target="fonts/KumbhSansMedium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6b88ccd6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6b88ccd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6a8ed71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6a8ed71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46f2858b5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46f2858b5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46f2858b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46f2858b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6a8ed71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6a8ed71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46f2858b5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46f2858b5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6a8ed71e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6a8ed71e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46f2858b5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46f2858b5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2c008a72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2c008a72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6a8ed71e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6a8ed71e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2c008a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2c008a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6a8ed71e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6a8ed71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046f2858b5_0_3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046f2858b5_0_3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1" name="Google Shape;31;p6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0" name="Google Shape;50;p11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1" name="Google Shape;51;p11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13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3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9" name="Google Shape;69;p13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6" name="Google Shape;86;p17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87" name="Google Shape;87;p17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88" name="Google Shape;88;p17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89" name="Google Shape;89;p17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8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20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0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21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21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" name="Google Shape;125;p21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6" name="Google Shape;126;p21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127" name="Google Shape;127;p21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" name="Google Shape;135;p22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7" name="Google Shape;137;p22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2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1" name="Google Shape;151;p23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0" name="Google Shape;160;p24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1" name="Google Shape;161;p24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2" name="Google Shape;162;p24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9" name="Google Shape;169;p25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0" name="Google Shape;170;p25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2" name="Google Shape;172;p25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5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5" name="Google Shape;175;p25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25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0" name="Google Shape;180;p26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81" name="Google Shape;181;p26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26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86" name="Google Shape;186;p27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87" name="Google Shape;187;p27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91" name="Google Shape;191;p28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subTitle"/>
          </p:nvPr>
        </p:nvSpPr>
        <p:spPr>
          <a:xfrm rot="-621">
            <a:off x="483400" y="2213854"/>
            <a:ext cx="3324000" cy="21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Automated Vehicle Identification, </a:t>
            </a: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arking Space</a:t>
            </a:r>
            <a:r>
              <a:rPr b="1" lang="en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5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&amp; Billing System</a:t>
            </a:r>
            <a:r>
              <a:rPr b="1" lang="en" sz="2500">
                <a:latin typeface="Arial"/>
                <a:ea typeface="Arial"/>
                <a:cs typeface="Arial"/>
                <a:sym typeface="Arial"/>
              </a:rPr>
              <a:t> 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>
            <p:ph type="ctrTitle"/>
          </p:nvPr>
        </p:nvSpPr>
        <p:spPr>
          <a:xfrm>
            <a:off x="2583150" y="612650"/>
            <a:ext cx="3003900" cy="6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ParkaSmart</a:t>
            </a:r>
            <a:endParaRPr b="1" sz="24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3969549" y="2976980"/>
            <a:ext cx="4420800" cy="17316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9550" y="1799650"/>
            <a:ext cx="4525825" cy="2977901"/>
          </a:xfrm>
          <a:prstGeom prst="rect">
            <a:avLst/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2777700" y="312600"/>
            <a:ext cx="35886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413075" y="977850"/>
            <a:ext cx="4612500" cy="3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Urbanization has increased vehicle numbers in Rwanda to 60,000 cars additional in 2024.</a:t>
            </a:r>
            <a:r>
              <a:rPr b="1" lang="en" sz="1800">
                <a:solidFill>
                  <a:schemeClr val="hlink"/>
                </a:solidFill>
              </a:rPr>
              <a:t>(RURA Report)</a:t>
            </a:r>
            <a:endParaRPr b="1"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Manual parking systems are inefficient and error-prone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Need for automation in parking management</a:t>
            </a:r>
            <a:endParaRPr sz="1800"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725" y="1111125"/>
            <a:ext cx="3915149" cy="3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idx="2" type="title"/>
          </p:nvPr>
        </p:nvSpPr>
        <p:spPr>
          <a:xfrm>
            <a:off x="2008125" y="389426"/>
            <a:ext cx="55677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1"/>
          <p:cNvSpPr txBox="1"/>
          <p:nvPr>
            <p:ph idx="1" type="subTitle"/>
          </p:nvPr>
        </p:nvSpPr>
        <p:spPr>
          <a:xfrm rot="426">
            <a:off x="259500" y="1237625"/>
            <a:ext cx="4845300" cy="3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 Rwanda; 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Vehicle fleet grew </a:t>
            </a: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18% (2021–2023)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Annual growth averages</a:t>
            </a: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11% yearly</a:t>
            </a:r>
            <a:endParaRPr b="1"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Manual parking systems cause delays, congestion, and human errors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slows down entry and exit processes.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Globally,  studies estimate losses of </a:t>
            </a:r>
            <a:r>
              <a:rPr b="1"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20–40% </a:t>
            </a:r>
            <a:r>
              <a:rPr lang="en" sz="16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(estimated delays and billing errors)</a:t>
            </a:r>
            <a:endParaRPr sz="16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4" name="Google Shape;214;p31"/>
          <p:cNvSpPr/>
          <p:nvPr/>
        </p:nvSpPr>
        <p:spPr>
          <a:xfrm>
            <a:off x="5104800" y="2729275"/>
            <a:ext cx="3375000" cy="15843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375" y="1442250"/>
            <a:ext cx="3975625" cy="2775175"/>
          </a:xfrm>
          <a:prstGeom prst="rect">
            <a:avLst/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/>
          <p:nvPr/>
        </p:nvSpPr>
        <p:spPr>
          <a:xfrm>
            <a:off x="1136662" y="1219725"/>
            <a:ext cx="3031200" cy="17316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" type="subTitle"/>
          </p:nvPr>
        </p:nvSpPr>
        <p:spPr>
          <a:xfrm>
            <a:off x="4256700" y="1416975"/>
            <a:ext cx="4471500" cy="32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0000"/>
                </a:solidFill>
              </a:rPr>
              <a:t>ParkaSmart Technologies</a:t>
            </a:r>
            <a:r>
              <a:rPr lang="en" sz="1600">
                <a:solidFill>
                  <a:srgbClr val="000000"/>
                </a:solidFill>
              </a:rPr>
              <a:t> is a smart parking system that address challenges in urban parking management. It: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Automates vehicle identification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Tracks parking space and time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Ensures accurate billing to improve efficiency and reduce congestion.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32"/>
          <p:cNvSpPr txBox="1"/>
          <p:nvPr>
            <p:ph type="title"/>
          </p:nvPr>
        </p:nvSpPr>
        <p:spPr>
          <a:xfrm>
            <a:off x="4735550" y="800775"/>
            <a:ext cx="2826600" cy="616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ParkaSmart</a:t>
            </a:r>
            <a:endParaRPr sz="3600"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75" y="959138"/>
            <a:ext cx="3658350" cy="3225225"/>
          </a:xfrm>
          <a:prstGeom prst="rect">
            <a:avLst/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1136650" y="571800"/>
            <a:ext cx="58854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>
            <p:ph idx="1" type="subTitle"/>
          </p:nvPr>
        </p:nvSpPr>
        <p:spPr>
          <a:xfrm>
            <a:off x="395100" y="1347600"/>
            <a:ext cx="4176900" cy="24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hlink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Automate vehicle identification</a:t>
            </a:r>
            <a:endParaRPr sz="1600">
              <a:solidFill>
                <a:schemeClr val="hlink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Track entry and exit time</a:t>
            </a:r>
            <a:endParaRPr sz="1600">
              <a:solidFill>
                <a:schemeClr val="hlink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Calculate parking fees automatically</a:t>
            </a:r>
            <a:endParaRPr sz="1600">
              <a:solidFill>
                <a:schemeClr val="hlink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Improve efficiency and reduce human intervention</a:t>
            </a:r>
            <a:endParaRPr sz="16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75" y="1546650"/>
            <a:ext cx="4381924" cy="2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1652400" y="418375"/>
            <a:ext cx="5839200" cy="6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4"/>
          <p:cNvSpPr txBox="1"/>
          <p:nvPr>
            <p:ph idx="1" type="subTitle"/>
          </p:nvPr>
        </p:nvSpPr>
        <p:spPr>
          <a:xfrm>
            <a:off x="360100" y="1533175"/>
            <a:ext cx="4146600" cy="22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Smart parking system using sensors, camera, and microcontroller</a:t>
            </a:r>
            <a:endParaRPr sz="1600">
              <a:solidFill>
                <a:schemeClr val="hlink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Char char="●"/>
            </a:pPr>
            <a:r>
              <a:rPr lang="en" sz="1600">
                <a:solidFill>
                  <a:schemeClr val="hlink"/>
                </a:solidFill>
              </a:rPr>
              <a:t>Automates entire parking process from entry to exit</a:t>
            </a:r>
            <a:endParaRPr sz="16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33177"/>
            <a:ext cx="4037598" cy="220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1774950" y="377400"/>
            <a:ext cx="55941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System Methodology 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idx="1" type="subTitle"/>
          </p:nvPr>
        </p:nvSpPr>
        <p:spPr>
          <a:xfrm>
            <a:off x="482050" y="1414350"/>
            <a:ext cx="39702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Entry</a:t>
            </a:r>
            <a:endParaRPr b="1"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Vehicle detected using ultrasonic sensor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Camera captures plat</a:t>
            </a:r>
            <a:r>
              <a:rPr lang="en" sz="1800">
                <a:solidFill>
                  <a:schemeClr val="hlink"/>
                </a:solidFill>
              </a:rPr>
              <a:t>e</a:t>
            </a:r>
            <a:r>
              <a:rPr lang="en" sz="1800">
                <a:solidFill>
                  <a:schemeClr val="hlink"/>
                </a:solidFill>
              </a:rPr>
              <a:t> number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OCR extracts plate number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E</a:t>
            </a:r>
            <a:r>
              <a:rPr lang="en" sz="1800">
                <a:solidFill>
                  <a:schemeClr val="hlink"/>
                </a:solidFill>
              </a:rPr>
              <a:t>ntry time stored using RTC</a:t>
            </a:r>
            <a:endParaRPr sz="18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>
            <p:ph idx="4" type="subTitle"/>
          </p:nvPr>
        </p:nvSpPr>
        <p:spPr>
          <a:xfrm>
            <a:off x="4643525" y="1414350"/>
            <a:ext cx="41610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Exit</a:t>
            </a:r>
            <a:endParaRPr b="1"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Vehicle detected at exit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Plate number re-captured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System retrieves entry time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Calculates parking duration and fee</a:t>
            </a:r>
            <a:endParaRPr sz="18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2138750" y="218775"/>
            <a:ext cx="4695300" cy="7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125" y="914800"/>
            <a:ext cx="6828557" cy="402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893750" y="22225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 sz="3600">
                <a:latin typeface="Arial"/>
                <a:ea typeface="Arial"/>
                <a:cs typeface="Arial"/>
                <a:sym typeface="Arial"/>
              </a:rPr>
              <a:t>System Flowchart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800" y="856750"/>
            <a:ext cx="5334999" cy="411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2504950" y="268300"/>
            <a:ext cx="45669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Results Discussion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8"/>
          <p:cNvSpPr txBox="1"/>
          <p:nvPr>
            <p:ph idx="2" type="title"/>
          </p:nvPr>
        </p:nvSpPr>
        <p:spPr>
          <a:xfrm>
            <a:off x="787612" y="1246488"/>
            <a:ext cx="2603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268" name="Google Shape;268;p38"/>
          <p:cNvSpPr txBox="1"/>
          <p:nvPr>
            <p:ph idx="1" type="subTitle"/>
          </p:nvPr>
        </p:nvSpPr>
        <p:spPr>
          <a:xfrm>
            <a:off x="438550" y="1869250"/>
            <a:ext cx="3301800" cy="24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Minimizes human error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Enhances transparency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Saves time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Scalable for smart cities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38"/>
          <p:cNvSpPr txBox="1"/>
          <p:nvPr>
            <p:ph idx="3" type="title"/>
          </p:nvPr>
        </p:nvSpPr>
        <p:spPr>
          <a:xfrm>
            <a:off x="5581489" y="1246488"/>
            <a:ext cx="2603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1"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270" name="Google Shape;270;p38"/>
          <p:cNvSpPr txBox="1"/>
          <p:nvPr>
            <p:ph idx="4" type="subTitle"/>
          </p:nvPr>
        </p:nvSpPr>
        <p:spPr>
          <a:xfrm>
            <a:off x="5099375" y="1774200"/>
            <a:ext cx="3418500" cy="23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Mobile payment integration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Cloud database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Real-time parking availability</a:t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1096000" y="539500"/>
            <a:ext cx="7280100" cy="7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Conclusion &amp;  </a:t>
            </a:r>
            <a:r>
              <a:rPr b="1" lang="en" sz="3600"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>
            <p:ph idx="1" type="subTitle"/>
          </p:nvPr>
        </p:nvSpPr>
        <p:spPr>
          <a:xfrm>
            <a:off x="1391050" y="1537200"/>
            <a:ext cx="6498300" cy="23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Smart parking improves efficiency and reliability.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Supports smart city development.</a:t>
            </a:r>
            <a:endParaRPr sz="1800">
              <a:solidFill>
                <a:schemeClr val="hlink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●"/>
            </a:pPr>
            <a:r>
              <a:rPr lang="en" sz="1800">
                <a:solidFill>
                  <a:schemeClr val="hlink"/>
                </a:solidFill>
              </a:rPr>
              <a:t>Reduces congestion and enhances user experience.</a:t>
            </a:r>
            <a:endParaRPr sz="1800">
              <a:solidFill>
                <a:schemeClr val="hlink"/>
              </a:solidFill>
            </a:endParaRPr>
          </a:p>
          <a:p>
            <a:pPr indent="0" lvl="0" marL="0" rtl="0" algn="just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idx="1" type="subTitle"/>
          </p:nvPr>
        </p:nvSpPr>
        <p:spPr>
          <a:xfrm>
            <a:off x="782200" y="1326575"/>
            <a:ext cx="6698700" cy="18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ParkaSmart Technologies, “ParkaSmart: Automated Vehicle Identification, Parking Space &amp; Billing System,” unpublished technical report, Apr. 2026.</a:t>
            </a:r>
            <a:endParaRPr/>
          </a:p>
        </p:txBody>
      </p:sp>
      <p:sp>
        <p:nvSpPr>
          <p:cNvPr id="282" name="Google Shape;282;p40"/>
          <p:cNvSpPr txBox="1"/>
          <p:nvPr>
            <p:ph type="title"/>
          </p:nvPr>
        </p:nvSpPr>
        <p:spPr>
          <a:xfrm>
            <a:off x="2787475" y="375275"/>
            <a:ext cx="3337800" cy="9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Reference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1437100" y="831450"/>
            <a:ext cx="60168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Thanks !</a:t>
            </a:r>
            <a:endParaRPr b="1" sz="7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1"/>
          <p:cNvSpPr/>
          <p:nvPr/>
        </p:nvSpPr>
        <p:spPr>
          <a:xfrm>
            <a:off x="2419400" y="2145050"/>
            <a:ext cx="5621100" cy="1276500"/>
          </a:xfrm>
          <a:prstGeom prst="roundRect">
            <a:avLst>
              <a:gd fmla="val 2512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32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